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734495" cy="384048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l"/>
            <a:r>
              <a:rPr b="1" i="0" sz="1400">
                <a:solidFill>
                  <a:srgbClr val="FFFFFF"/>
                </a:solidFill>
                <a:latin typeface="Calibri"/>
              </a:rPr>
              <a:t>Summary of activities</a:t>
            </a:r>
            <a:r>
              <a:rPr b="0" i="0" sz="900">
                <a:solidFill>
                  <a:srgbClr val="CCD9E8"/>
                </a:solidFill>
                <a:latin typeface="Calibri"/>
              </a:rPr>
              <a:t>     │     QYJI     │     Page 1/1     │     2026/06/30     │     </a:t>
            </a:r>
            <a:r>
              <a:rPr b="1" i="0" sz="1000">
                <a:solidFill>
                  <a:srgbClr val="FFFFFF"/>
                </a:solidFill>
                <a:latin typeface="Calibri"/>
              </a:rPr>
              <a:t>Novo Nordisk®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576072"/>
          <a:ext cx="11734495" cy="619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759"/>
                <a:gridCol w="2112209"/>
                <a:gridCol w="6923352"/>
                <a:gridCol w="1760175"/>
              </a:tblGrid>
              <a:tr h="256032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11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1100">
                          <a:solidFill>
                            <a:srgbClr val="FFFFFF"/>
                          </a:solidFill>
                          <a:latin typeface="Calibri"/>
                        </a:rPr>
                        <a:t>List of activities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1100">
                          <a:solidFill>
                            <a:srgbClr val="FFFFFF"/>
                          </a:solidFill>
                          <a:latin typeface="Calibri"/>
                        </a:rPr>
                        <a:t>Brief description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1100">
                          <a:solidFill>
                            <a:srgbClr val="FFFFFF"/>
                          </a:solidFill>
                          <a:latin typeface="Calibri"/>
                        </a:rPr>
                        <a:t>Relevant links/files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</a:tr>
              <a:tr h="989076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003865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CCD9E8"/>
                    </a:solidFill>
                    <a:vMerge val="restart"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HepG2 EE — DRUG-seq × imaging cross-modal MoA (RIC-381)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1440-well three-modality alignment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DRUG-seq × C24 imaging (DINOv2 384-dim) × TMRM, zero gaps; vCell pipeline + 24/24 tests.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Cross-modal MoA + 52 tier-1 candidates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175 perturbations, KD tiering (strong 46 / weak 94 / failed 28); MoA states uncoupler-like 53 / mixed 39 / biogenesis-like 13 / toxic-collapse 6 / neutral 64.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3. TMRM channel-identity correction verified against pipeline + imaging.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262626"/>
                          </a:solidFill>
                          <a:latin typeface="Calibri"/>
                        </a:rPr>
                        <a:t>https://jira.novonordisk.com/browse/RIC-381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9076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</a:p>
                  </a:txBody>
                  <a:tcPr>
                    <a:solidFill>
                      <a:srgbClr val="CCD9E8"/>
                    </a:solidFill>
                    <a:vMerge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Safety landscape tool — modality-aware + conditional-risk + v6 keywords (RIC-349)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Modality-aware prompts + hedge-aware risk scoring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peripherally-restricted / partial-IA no longer blindly down-weights CNS LoF.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P0/P1 + conditional-risk layer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(2026-06-18); packaged as installable </a:t>
                      </a:r>
                      <a:r>
                        <a:rPr b="0" i="1" sz="950">
                          <a:solidFill>
                            <a:srgbClr val="262626"/>
                          </a:solidFill>
                          <a:latin typeface="Calibri"/>
                        </a:rPr>
                        <a:t>safety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CLI + ZH/EN one-pager.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3.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v6_composite keywords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binary acc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70.8%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on NCBN N=305 (+2.3 pp vs v5_final).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262626"/>
                          </a:solidFill>
                          <a:latin typeface="Calibri"/>
                        </a:rPr>
                        <a:t>https://jira.novonordisk.com/browse/RIC-349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89076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</a:p>
                  </a:txBody>
                  <a:tcPr>
                    <a:solidFill>
                      <a:srgbClr val="CCD9E8"/>
                    </a:solidFill>
                    <a:vMerge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BBB prediction expansion — Phase 2/3/4 + auto-report pipeline (RIC-388)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Phase 2 (peptide DL)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local ESM-2 BBB model + ESM-BBB-Pred / DeepB3P; 4 BRP sequences predicted for EJNH.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Phase 3 — benchmarking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cross-tool sens / spec / MCC; B3clf 12-model committee for SM.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3.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Phase 4 protraction-aware fusion + auto-report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(CLI → HTML + PPTX + LLM narrative); modality-adaptive uncertainty (committee Wilson for SM; ESM framing for peptides).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262626"/>
                          </a:solidFill>
                          <a:latin typeface="Calibri"/>
                        </a:rPr>
                        <a:t>https://jira.novonordisk.com/browse/RIC-388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9076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003865"/>
                          </a:solidFill>
                          <a:latin typeface="Calibri"/>
                        </a:rPr>
                        <a:t>Targets</a:t>
                      </a:r>
                    </a:p>
                  </a:txBody>
                  <a:tcPr>
                    <a:solidFill>
                      <a:srgbClr val="CCD9E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Multi-target safety assessments — RORA / CDK8-19 / DGKQ / GRB10 / PAM / EE strict-tox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•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RORA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(req. MUEW): direction-feasibility for cardiometabolic / DIO; tool compounds SR3335 / SR1001 / SR1078 BBB report →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RIC-389 Done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•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CDK8 / CDK19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independent cross-check supporting NCBN/IKEB repro-tox termination on RP0909.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•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DGKQ family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(9 paralogs): RED=2 / YELLOW=5 / GREEN=2; two-direction comparison delivered.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• Batches: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GRB10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,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PAM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,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EE strict-tox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, 2026-06-09 / 06-10 GJSN series — mirrored to /TDE_TV/shared_folder/QYJI/safety/.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262626"/>
                          </a:solidFill>
                          <a:latin typeface="Calibri"/>
                        </a:rPr>
                        <a:t>https://jira.novonordisk.com/browse/RIC-349</a:t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262626"/>
                          </a:solidFill>
                          <a:latin typeface="Calibri"/>
                        </a:rPr>
                        <a:t>https://jira.novonordisk.com/browse/RIC-389</a:t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262626"/>
                          </a:solidFill>
                          <a:latin typeface="Calibri"/>
                        </a:rPr>
                        <a:t>https://jira.novonordisk.com/browse/RIC-386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89076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003865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>
                    <a:solidFill>
                      <a:srgbClr val="CCD9E8"/>
                    </a:solidFill>
                    <a:vMerge val="restart"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Skeletal Muscle Atrophy assay — new batch + benchmark + cross-batch generalisation (RIC-261)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New batch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IGWU_20260608_1 (PLXN/SEMA siRNA repeat)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240 wells end-to-end through v3.5 pipeline.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4-way skeleton benchmark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(ImageJ / OldPipeline / LegacyApprox / NewPyimagej) on 240 images;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cross-batch SSMD validation (3 batches, 720 images)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total-length ρ ≥ 0.97, SSMD ρ ≥ 0.986, hit-class concordance ≥ 11/12.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262626"/>
                          </a:solidFill>
                          <a:latin typeface="Calibri"/>
                        </a:rPr>
                        <a:t>https://jira.novonordisk.com/browse/RIC-261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9076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</a:p>
                  </a:txBody>
                  <a:tcPr>
                    <a:solidFill>
                      <a:srgbClr val="CCD9E8"/>
                    </a:solidFill>
                    <a:vMerge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Adipocyte Lipolysis Assay — imaging arm split + Round-1 BF analysis (RIC-298 / RIC-390)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Imaging activity log split out to new ticket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RIC-390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(RIC-298 retained as parent).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Round-1 KDE plate BF analysis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(data: Yang Huan / OFGM): CIDEC KD vs NTC,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2,700 images (5 Z × 9 fields × 60 wells)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; DICOM tiff stack → segmentation → droplet-level quantification end-to-end.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262626"/>
                          </a:solidFill>
                          <a:latin typeface="Calibri"/>
                        </a:rPr>
                        <a:t>https://jira.novonordisk.com/browse/RIC-298</a:t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262626"/>
                          </a:solidFill>
                          <a:latin typeface="Calibri"/>
                        </a:rPr>
                        <a:t>https://jira.novonordisk.com/browse/RIC-390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