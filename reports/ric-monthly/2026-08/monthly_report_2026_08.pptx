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ira.novonordisk.com/browse/RIC-349" TargetMode="External"/><Relationship Id="rId3" Type="http://schemas.openxmlformats.org/officeDocument/2006/relationships/hyperlink" Target="https://jira.novonordisk.com/browse/RIC-395" TargetMode="External"/><Relationship Id="rId4" Type="http://schemas.openxmlformats.org/officeDocument/2006/relationships/hyperlink" Target="https://jira.novonordisk.com/browse/RIC-379" TargetMode="External"/><Relationship Id="rId5" Type="http://schemas.openxmlformats.org/officeDocument/2006/relationships/hyperlink" Target="https://jira.novonordisk.com/browse/RIC-396" TargetMode="External"/><Relationship Id="rId6" Type="http://schemas.openxmlformats.org/officeDocument/2006/relationships/hyperlink" Target="https://jira.novonordisk.com/browse/RIC-391" TargetMode="External"/><Relationship Id="rId7" Type="http://schemas.openxmlformats.org/officeDocument/2006/relationships/hyperlink" Target="https://jira.novonordisk.com/browse/RIC-394" TargetMode="External"/><Relationship Id="rId8" Type="http://schemas.openxmlformats.org/officeDocument/2006/relationships/hyperlink" Target="https://jira.novonordisk.com/browse/RIC-375" TargetMode="External"/><Relationship Id="rId9" Type="http://schemas.openxmlformats.org/officeDocument/2006/relationships/hyperlink" Target="https://jira.novonordisk.com/browse/RIC-261" TargetMode="External"/><Relationship Id="rId10" Type="http://schemas.openxmlformats.org/officeDocument/2006/relationships/hyperlink" Target="https://jira.novonordisk.com/browse/RIC-38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734495" cy="38404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Summary of activities</a:t>
            </a:r>
            <a:r>
              <a:rPr b="0" i="0" sz="900">
                <a:solidFill>
                  <a:srgbClr val="CCD9E8"/>
                </a:solidFill>
                <a:latin typeface="Calibri"/>
              </a:rPr>
              <a:t>     │     QYJI     │     Page 1/1     │     2026/08/28     │     </a:t>
            </a:r>
            <a:r>
              <a:rPr b="1" i="0" sz="1000">
                <a:solidFill>
                  <a:srgbClr val="FFFFFF"/>
                </a:solidFill>
                <a:latin typeface="Calibri"/>
              </a:rPr>
              <a:t>Novo Nordisk®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576072"/>
          <a:ext cx="11734495" cy="61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59"/>
                <a:gridCol w="1760174"/>
                <a:gridCol w="7275386"/>
                <a:gridCol w="1760176"/>
              </a:tblGrid>
              <a:tr h="256032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List of activities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Brief description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Relevant links/files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Safety Landscape Tool — v1.4 MoA biology layer + operations hardening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New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Mechanism-of-Action biology layer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on OpenTargets v4: pathways, drug MoA, probes, subcellular location; action-type vocabulary completed from a live OT probe (BLOCKER / OPENER / POSITIVE MODULATOR...); direction-neutral terms stay silent.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Rendered as "MoA Profile" section in md/marp/pptx outputs; NCBN-305 gold-standard gate re-run: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Δacc = 0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(scoring untouched).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Gold-standard direction-provenance fix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(HMGB1 request trigger) + snapshot-consistency audit.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4. Model alias migrated opus_latest →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opus_5_azure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for unambiguous audit traces.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2"/>
                        </a:rPr>
                        <a:t>RIC-349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Safety Landscape Tool — colleague self-service adoption + Dashboard updates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Self-service intake app adopted by colleagues: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10 submitted requests in August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(ZHCO, ZYGS, EJNH, YLV, SIWZ), incl. multi-target batches and MASH variants.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Dashboard: added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Requester column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(fallback "not know") and "Last 24 hours" time filter.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Pre-check flows now flag archive-snapshot-only targets before filing.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3"/>
                        </a:rPr>
                        <a:t>RIC-395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Imaging best practice — BP poster 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Per leadership feedback the poster narrative was shifted from two case studies to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general imaging best practice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(7-stage workflow + data flow), with assays demoted to proof-of-concept evidence; iterated to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v49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through 6 review rounds.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4"/>
                        </a:rPr>
                        <a:t>RIC-379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Targets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GPR81 (HCAR1) individual target assessment — docking, reverse-SAR &amp; safety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Three-layer deliverable to requester UHYG: Vina docking | Boltz-2 | wet-lab benchmark,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45/45 compounds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covered at every layer; full-chain data-integrity audit (20 checks, all pass).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New finding —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binding-site disagreement between layers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Boltz-2 places 29/45 compounds in the orthosteric pocket contacting Arg71 (lactate carboxylate anchor); Vina on experimental structures disagrees → report section 7.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AlphaFold HCAR2/HCAR3 monomer models reproduced via BioLib and validated vs AlphaFold DB v6.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4. EN one-pager + readout email incl. wet-lab benchmarking panel ask; package synced to shared drive.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5"/>
                        </a:rPr>
                        <a:t>RIC-396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Target safety pipeline — applications #3–#8 logged &amp; follow-ups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CCND2 activation GREEN→RED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v1.3 offline rescore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(UHYG T2D batch, 42×2 directions): keyword-library evolution flipped one Tier 1 COSMIC oncogene call.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CTRP9/FAM3D back-filled into registry + Dashboard (pre-request-form era run made visible).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Application #8: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EJNH 3'aQTL panel, 19-target inhibition batch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under v1.4.3 scoring; pre-check flagged 17/19 as archive-snapshot-only before running.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6"/>
                        </a:rPr>
                        <a:t>RIC-391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Assay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IGWU myotube — factorial DOE + IGF/Insulin dose-response batches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IGWU_20260730_1 Hypertrophy DOE: treatment × arm joint-condition readout shipped in production decoupled v3.5 pipeline (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5,760 TIFFs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240 wells); MSTN/Bima/IGF factors reported jointly instead of collapsed arms.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IGWU_20260811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4-plate onboard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IGF1/IGF2/Insulin dose series (Low/Mid) × Atrophy/Hypertrophy arms; combined factorial report delivered.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On team follow-up ask, added MYH intensity readouts (SSMD) as report Section D + handed over raw readouts for their downstream analysis.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7"/>
                        </a:rPr>
                        <a:t>RIC-394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Seahorse assay imaging pipeline — three development 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Round 1: per-well Otsu masks produced holes from dark adipocyte clumps (nuclei signal inside holes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5.6×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surrounding) → replaced with fixed-geometry mask templates.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Round 2: QC observation "boundary hugs rim on some wells only" triggered per-well geometry audit — fixed-radius template systematically wrong → switched to per-well radius templates.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Standalone seahorse_imaging project spun 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8"/>
                        </a:rPr>
                        <a:t>RIC-375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1807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SkM Atrophy BP closeout + HepG2 ATP 4th modality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SkM Atrophy methodology BP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v2.1 summary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core-algorithm + code-map sections for engineering handover, metadata fields closed with assay-team input; code repository migrated to Novo GHE. (RIC-261, Review closeout)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HepG2 model characterization extended with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ATP safety counter-screen as 4th modality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alongside TMRM/DRUG-seq/DINOv2 (Campaigns 31/24/22, NTC-normalised); one-pager final version + supplement delivered. (RIC-381)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9"/>
                        </a:rPr>
                        <a:t>RIC-261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10"/>
                        </a:rPr>
                        <a:t>RIC-381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