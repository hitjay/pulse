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ira.novonordisk.com/browse/RIC-395" TargetMode="External"/><Relationship Id="rId3" Type="http://schemas.openxmlformats.org/officeDocument/2006/relationships/hyperlink" Target="https://jira.novonordisk.com/browse/RIC-349" TargetMode="External"/><Relationship Id="rId4" Type="http://schemas.openxmlformats.org/officeDocument/2006/relationships/hyperlink" Target="https://jira.novonordisk.com/browse/RIC-364" TargetMode="External"/><Relationship Id="rId5" Type="http://schemas.openxmlformats.org/officeDocument/2006/relationships/hyperlink" Target="https://jira.novonordisk.com/browse/RIC-381" TargetMode="External"/><Relationship Id="rId6" Type="http://schemas.openxmlformats.org/officeDocument/2006/relationships/hyperlink" Target="https://jira.novonordisk.com/browse/RIC-391" TargetMode="External"/><Relationship Id="rId7" Type="http://schemas.openxmlformats.org/officeDocument/2006/relationships/hyperlink" Target="https://jira.novonordisk.com/browse/RIC-392" TargetMode="External"/><Relationship Id="rId8" Type="http://schemas.openxmlformats.org/officeDocument/2006/relationships/hyperlink" Target="https://jira.novonordisk.com/browse/RIC-394" TargetMode="External"/><Relationship Id="rId9" Type="http://schemas.openxmlformats.org/officeDocument/2006/relationships/hyperlink" Target="https://jira.novonordisk.com/browse/RIC-26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37160"/>
            <a:ext cx="11734495" cy="384048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tIns="36576"/>
          <a:lstStyle/>
          <a:p>
            <a:pPr algn="l"/>
            <a:r>
              <a:rPr b="1" i="0" sz="1400">
                <a:solidFill>
                  <a:srgbClr val="FFFFFF"/>
                </a:solidFill>
                <a:latin typeface="Calibri"/>
              </a:rPr>
              <a:t>Summary of activities</a:t>
            </a:r>
            <a:r>
              <a:rPr b="0" i="0" sz="900">
                <a:solidFill>
                  <a:srgbClr val="CCD9E8"/>
                </a:solidFill>
                <a:latin typeface="Calibri"/>
              </a:rPr>
              <a:t>     │     QYJI     │     Page 1/1     │     2026/07/31     │     </a:t>
            </a:r>
            <a:r>
              <a:rPr b="1" i="0" sz="1000">
                <a:solidFill>
                  <a:srgbClr val="FFFFFF"/>
                </a:solidFill>
                <a:latin typeface="Calibri"/>
              </a:rPr>
              <a:t>Novo Nordisk®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28600" y="576072"/>
          <a:ext cx="11734495" cy="619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759"/>
                <a:gridCol w="1760174"/>
                <a:gridCol w="7275386"/>
                <a:gridCol w="1760176"/>
              </a:tblGrid>
              <a:tr h="256032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List of activities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Brief description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1100">
                          <a:solidFill>
                            <a:srgbClr val="FFFFFF"/>
                          </a:solidFill>
                          <a:latin typeface="Calibri"/>
                        </a:rPr>
                        <a:t>Relevant links/files</a:t>
                      </a:r>
                    </a:p>
                  </a:txBody>
                  <a:tcPr>
                    <a:solidFill>
                      <a:srgbClr val="003865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CCD9E8"/>
                    </a:solidFill>
                    <a:vMerge val="restart"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Safety Landscape Tool — colleague self-service intake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New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Dashboard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merges static archive index (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2,739 targets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, 2026-07-06 snapshot) with live cron-run registries — colleagues self-check "has this target been assessed?" before filing a request.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Fixed Dashboard render bug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(jsonlite::validate() masking shiny::validate()).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Field simplification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retired High-precision/High-recall, kept only Standard (0.7082 binary accuracy); removed Assessment-type/Delivery-format dropdowns; merged name field into single 2-5 letter initial.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4. Live on Posit Connect,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v1.2+35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, with one-at-a-time entry + CSV bulk-add.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2"/>
                        </a:rPr>
                        <a:t>RIC-395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Safety Landscape Tool — conservative RED operating point + science deep-dive + upstream alignment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Default scoring switched to conservative RED call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(score&gt;=75 AND max_weight&gt;=60); reproduced NCBN-305 benchmark: binary accuracy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0.7082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, RED precision 0.6814, RED recall 0.5923.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34-slide science-meeting deep dive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(EN+CN): pipeline architecture, 8 data sources, keyword tuning history (Macro F1 0.381 -&gt; 0.498), ~70% accuracy ceiling confirmed via 4 independent CV methods.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Benchmarked against Novo's in-house GHE safety-landscape-tool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(v0.91): 32/35 unit tests pass, 3 environment blockers identified, then ported keyword-scoring + dual-gate + NCBN-305 regression suite upstream.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4. request_form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v1.2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live on Posit Connect: two-step submit with CSV/CLI preview, required direction field, third High-precision operating point added.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3"/>
                        </a:rPr>
                        <a:t>RIC-349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4"/>
                        </a:rPr>
                        <a:t>RIC-364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HepG2 EE — cross-modal model characterization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Extended cross-modal MoA story into a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model characterization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package: DRUG-seq = target-perturbation coordinate system, TMRM/MitoTracker = mitochondrial functional readout, DINOv2 C24/C1 = image-derived state representation, pathway score = interpretable summary layer (not a replacement for full signature). Delivered pathway-vs-phenotype consistency analysis, tox-prediction benchmark scripts, and a one-pager.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5"/>
                        </a:rPr>
                        <a:t>RIC-381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Targets</a:t>
                      </a:r>
                    </a:p>
                  </a:txBody>
                  <a:tcPr>
                    <a:solidFill>
                      <a:srgbClr val="CCD9E8"/>
                    </a:solidFill>
                    <a:vMerge val="restart"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Target safety assessment applications — SAM68 / HQGH 5-target batch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SAM68 (KHDRBS1)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(req. SIWZ, T2D): both directions YELLOW (activation 67 / inhibition 77) — oncogenic splicing risk vs fertility/dyslipidemia signals; neither crosses RED.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HQGH batch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(5 targets, inhibition-only): BAIAP3 RED(82), KCNK16 YELLOW(52), P2RY1 RED(75), PKD1 RED(124, human ADPKD gene), TFRC RED(132, pLI 0.98 LoF-intolerant).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6"/>
                        </a:rPr>
                        <a:t>RIC-391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</a:p>
                  </a:txBody>
                  <a:tcPr>
                    <a:solidFill>
                      <a:srgbClr val="CCD9E8"/>
                    </a:solidFill>
                    <a:vMerge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GHSR inverse-agonist docking campaign — virtual screening + Boltz-2 cross-validation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Dual-receptor protocol: primary dock vs inactive-state 7F83, counter-screen vs active-state 8JSR,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7,931 ChEMBL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drug/lead-like compounds, 7,930/7,931 completed.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Classification: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3,325 strong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inverse-agonist candidates (delta&lt;-1.0), 2,268 moderate, 1,021 pan-state binders.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Top 50 cross-validated with Boltz-2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affinity prediction (50/50 done); top candidates AMINOQUINURIDE, MITOQUIDONE, ULECACICLIB.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4. Follow-up top-20 ChEMBL cross-check + liability screen scripts added.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7"/>
                        </a:rPr>
                        <a:t>RIC-392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9076"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003865"/>
                          </a:solidFill>
                          <a:latin typeface="Calibri"/>
                        </a:rPr>
                        <a:t>Assay</a:t>
                      </a:r>
                    </a:p>
                  </a:txBody>
                  <a:tcPr>
                    <a:solidFill>
                      <a:srgbClr val="CCD9E8"/>
                    </a:solidFill>
                    <a:vMerge val="restart"/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IGWU myotube atrophy — batch application log (BP v2.0.0 on RIC-261 in Review closeout)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1.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IGWU_20260602_1 relabel + full rerun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: biology team corrected 20-well plate layout (positive-control fix); only cell_analysis+readout rerun (CellProfiler/skeleton untouched) — surfaced SB431542 as a new strong hit (FiberWidth SSMD +2.23).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2. Onboarded new batch series </a:t>
                      </a:r>
                      <a:r>
                        <a:rPr b="1" i="0" sz="950">
                          <a:solidFill>
                            <a:srgbClr val="262626"/>
                          </a:solidFill>
                          <a:latin typeface="Calibri"/>
                        </a:rPr>
                        <a:t>IGWU_20260712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 (Mid/Low/High dose) into the registry.</a:t>
                      </a: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/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950">
                          <a:solidFill>
                            <a:srgbClr val="262626"/>
                          </a:solidFill>
                          <a:latin typeface="Calibri"/>
                        </a:rPr>
                        <a:t>3. Ongoing cross-batch dashboard maintenance (dynamic STATS_CSV picker, renamed to multi_batch_screening_dashboard).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27432" bIns="27432"/>
                    <a:lstStyle/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8"/>
                        </a:rPr>
                        <a:t>RIC-394</a:t>
                      </a:r>
                    </a:p>
                    <a:p>
                      <a:pPr>
                        <a:lnSpc>
                          <a:spcPts val="1200"/>
                        </a:lnSpc>
                        <a:spcBef>
                          <a:spcPts val="50"/>
                        </a:spcBef>
                        <a:spcAft>
                          <a:spcPts val="50"/>
                        </a:spcAft>
                      </a:pPr>
                      <a:r>
                        <a:rPr b="0" i="0" sz="850">
                          <a:solidFill>
                            <a:srgbClr val="00569E"/>
                          </a:solidFill>
                          <a:latin typeface="Calibri"/>
                          <a:hlinkClick r:id="rId9"/>
                        </a:rPr>
                        <a:t>RIC-261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